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E7ECF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Gauteng</c:v>
                </c:pt>
                <c:pt idx="1">
                  <c:v>Western Cape</c:v>
                </c:pt>
                <c:pt idx="2">
                  <c:v>Kwazulu Natal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Uncategorised</c:v>
                </c:pt>
                <c:pt idx="7">
                  <c:v>North West</c:v>
                </c:pt>
                <c:pt idx="8">
                  <c:v>Free State</c:v>
                </c:pt>
                <c:pt idx="9">
                  <c:v>Northern Cape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1607</c:v>
                </c:pt>
                <c:pt idx="1">
                  <c:v>780</c:v>
                </c:pt>
                <c:pt idx="2">
                  <c:v>440</c:v>
                </c:pt>
                <c:pt idx="3">
                  <c:v>390</c:v>
                </c:pt>
                <c:pt idx="4">
                  <c:v>330</c:v>
                </c:pt>
                <c:pt idx="5">
                  <c:v>260</c:v>
                </c:pt>
                <c:pt idx="6">
                  <c:v>170</c:v>
                </c:pt>
                <c:pt idx="7">
                  <c:v>140</c:v>
                </c:pt>
                <c:pt idx="8">
                  <c:v>140</c:v>
                </c:pt>
                <c:pt idx="9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1C-47CA-9979-9453E304B6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631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Young
Adults</c:v>
                </c:pt>
                <c:pt idx="1">
                  <c:v>Adults</c:v>
                </c:pt>
                <c:pt idx="2">
                  <c:v>Infants</c:v>
                </c:pt>
                <c:pt idx="3">
                  <c:v>Teenagers</c:v>
                </c:pt>
                <c:pt idx="4">
                  <c:v>Pensioner</c:v>
                </c:pt>
                <c:pt idx="5">
                  <c:v>Kids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2950</c:v>
                </c:pt>
                <c:pt idx="1">
                  <c:v>1000</c:v>
                </c:pt>
                <c:pt idx="2">
                  <c:v>150</c:v>
                </c:pt>
                <c:pt idx="3">
                  <c:v>140</c:v>
                </c:pt>
                <c:pt idx="4">
                  <c:v>30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51-4830-9F1C-657169FADB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631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F5B94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EDC-4A2D-8A2E-E7199AF1D2A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EDC-4A2D-8A2E-E7199AF1D2A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EDC-4A2D-8A2E-E7199AF1D2A3}"/>
              </c:ext>
            </c:extLst>
          </c:dPt>
          <c:dPt>
            <c:idx val="3"/>
            <c:invertIfNegative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EDC-4A2D-8A2E-E7199AF1D2A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E7ECF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Low Usage</c:v>
                </c:pt>
                <c:pt idx="1">
                  <c:v>Medium Usage</c:v>
                </c:pt>
                <c:pt idx="2">
                  <c:v>High Usage</c:v>
                </c:pt>
                <c:pt idx="3">
                  <c:v>No Usage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1652</c:v>
                </c:pt>
                <c:pt idx="1">
                  <c:v>380</c:v>
                </c:pt>
                <c:pt idx="2">
                  <c:v>270</c:v>
                </c:pt>
                <c:pt idx="3">
                  <c:v>3596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EDC-4A2D-8A2E-E7199AF1D2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631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 minutes</c:v>
                </c:pt>
              </c:strCache>
            </c:strRef>
          </c:tx>
          <c:spPr>
            <a:ln w="31750" cap="flat">
              <a:solidFill>
                <a:srgbClr val="8B5C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1.3</c:v>
                </c:pt>
                <c:pt idx="1">
                  <c:v>0.5</c:v>
                </c:pt>
                <c:pt idx="2">
                  <c:v>0.9</c:v>
                </c:pt>
                <c:pt idx="3">
                  <c:v>1.9</c:v>
                </c:pt>
                <c:pt idx="4">
                  <c:v>4.5999999999999996</c:v>
                </c:pt>
                <c:pt idx="5">
                  <c:v>6.6</c:v>
                </c:pt>
                <c:pt idx="6">
                  <c:v>7</c:v>
                </c:pt>
                <c:pt idx="7">
                  <c:v>6.6</c:v>
                </c:pt>
                <c:pt idx="8">
                  <c:v>6</c:v>
                </c:pt>
                <c:pt idx="9">
                  <c:v>4.5999999999999996</c:v>
                </c:pt>
                <c:pt idx="10">
                  <c:v>3.5</c:v>
                </c:pt>
                <c:pt idx="11">
                  <c:v>1.9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C27-4967-B39E-3F05DE6523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631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 minutes</c:v>
                </c:pt>
              </c:strCache>
            </c:strRef>
          </c:tx>
          <c:spPr>
            <a:solidFill>
              <a:srgbClr val="EC489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DC1-43CA-8B72-1772F007C780}"/>
              </c:ext>
            </c:extLst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DC1-43CA-8B72-1772F007C780}"/>
              </c:ext>
            </c:extLst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DC1-43CA-8B72-1772F007C780}"/>
              </c:ext>
            </c:extLst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DC1-43CA-8B72-1772F007C780}"/>
              </c:ext>
            </c:extLst>
          </c:dPt>
          <c:dPt>
            <c:idx val="4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DC1-43CA-8B72-1772F007C780}"/>
              </c:ext>
            </c:extLst>
          </c:dPt>
          <c:dPt>
            <c:idx val="5"/>
            <c:invertIfNegative val="0"/>
            <c:bubble3D val="0"/>
            <c:spPr>
              <a:solidFill>
                <a:srgbClr val="34D3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DC1-43CA-8B72-1772F007C780}"/>
              </c:ext>
            </c:extLst>
          </c:dPt>
          <c:dPt>
            <c:idx val="6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DC1-43CA-8B72-1772F007C78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E7ECF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</c:v>
                </c:pt>
                <c:pt idx="1">
                  <c:v>12</c:v>
                </c:pt>
                <c:pt idx="2">
                  <c:v>14</c:v>
                </c:pt>
                <c:pt idx="3">
                  <c:v>13.8</c:v>
                </c:pt>
                <c:pt idx="4">
                  <c:v>14.8</c:v>
                </c:pt>
                <c:pt idx="5">
                  <c:v>18</c:v>
                </c:pt>
                <c:pt idx="6">
                  <c:v>11.3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DC1-43CA-8B72-1772F007C7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631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 minutes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9C4-439B-B814-A99A02A3D459}"/>
              </c:ext>
            </c:extLst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9C4-439B-B814-A99A02A3D459}"/>
              </c:ext>
            </c:extLst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9C4-439B-B814-A99A02A3D459}"/>
              </c:ext>
            </c:extLst>
          </c:dPt>
          <c:dPt>
            <c:idx val="3"/>
            <c:invertIfNegative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9C4-439B-B814-A99A02A3D459}"/>
              </c:ext>
            </c:extLst>
          </c:dPt>
          <c:dPt>
            <c:idx val="4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9C4-439B-B814-A99A02A3D459}"/>
              </c:ext>
            </c:extLst>
          </c:dPt>
          <c:dPt>
            <c:idx val="5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9C4-439B-B814-A99A02A3D459}"/>
              </c:ext>
            </c:extLst>
          </c:dPt>
          <c:dPt>
            <c:idx val="6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9C4-439B-B814-A99A02A3D459}"/>
              </c:ext>
            </c:extLst>
          </c:dPt>
          <c:dPt>
            <c:idx val="7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9C4-439B-B814-A99A02A3D459}"/>
              </c:ext>
            </c:extLst>
          </c:dPt>
          <c:dPt>
            <c:idx val="8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9C4-439B-B814-A99A02A3D459}"/>
              </c:ext>
            </c:extLst>
          </c:dPt>
          <c:dPt>
            <c:idx val="9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F9C4-439B-B814-A99A02A3D45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E7ECF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ICC Cricket World Cup 2011</c:v>
                </c:pt>
                <c:pt idx="1">
                  <c:v>Live Events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 Blitz</c:v>
                </c:pt>
                <c:pt idx="5">
                  <c:v>Boomerang</c:v>
                </c:pt>
                <c:pt idx="6">
                  <c:v>Cartoon Network</c:v>
                </c:pt>
                <c:pt idx="7">
                  <c:v>CNN</c:v>
                </c:pt>
                <c:pt idx="8">
                  <c:v>Africa Magic</c:v>
                </c:pt>
                <c:pt idx="9">
                  <c:v>E! Entertainment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24.5</c:v>
                </c:pt>
                <c:pt idx="1">
                  <c:v>19</c:v>
                </c:pt>
                <c:pt idx="2">
                  <c:v>11.5</c:v>
                </c:pt>
                <c:pt idx="3">
                  <c:v>11.3</c:v>
                </c:pt>
                <c:pt idx="4">
                  <c:v>5.5</c:v>
                </c:pt>
                <c:pt idx="5">
                  <c:v>4.3</c:v>
                </c:pt>
                <c:pt idx="6">
                  <c:v>4</c:v>
                </c:pt>
                <c:pt idx="7">
                  <c:v>3.8</c:v>
                </c:pt>
                <c:pt idx="8">
                  <c:v>2.8</c:v>
                </c:pt>
                <c:pt idx="9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F9C4-439B-B814-A99A02A3D4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631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4523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141C3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1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BrightTV: Q1 2016 Executive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Report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Viewership, engagement &amp; customer value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window: Jan – Mar 2016  ·  9,983 viewing records  ·  18 channels  ·  10 provinces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5349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91.3K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5879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Minutes Watched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5349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4,386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749040" y="5879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Subscribers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5349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45.7%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858000" y="5879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Subscriber Share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Quarter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45752" y="411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41C31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7830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91.3K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23774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Minutes Watched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63824" y="160020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41C31"/>
          </a:solidFill>
          <a:ln/>
        </p:spPr>
      </p:sp>
      <p:sp>
        <p:nvSpPr>
          <p:cNvPr id="9" name="Text 7"/>
          <p:cNvSpPr/>
          <p:nvPr/>
        </p:nvSpPr>
        <p:spPr>
          <a:xfrm>
            <a:off x="3328416" y="17830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4,386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28416" y="23774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Subscribers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70448" y="160020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41C31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7830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9,983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035040" y="23774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Sessions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577072" y="160020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41C31"/>
          </a:solidFill>
          <a:ln/>
        </p:spPr>
      </p:sp>
      <p:sp>
        <p:nvSpPr>
          <p:cNvPr id="15" name="Text 13"/>
          <p:cNvSpPr/>
          <p:nvPr/>
        </p:nvSpPr>
        <p:spPr>
          <a:xfrm>
            <a:off x="8741664" y="17830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741664" y="23774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Minutes / Subscriber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41C31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3832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27.1%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1792" y="39776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from ICC Cricket WC 2011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163824" y="320040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41C31"/>
          </a:solidFill>
          <a:ln/>
        </p:spPr>
      </p:sp>
      <p:sp>
        <p:nvSpPr>
          <p:cNvPr id="21" name="Text 19"/>
          <p:cNvSpPr/>
          <p:nvPr/>
        </p:nvSpPr>
        <p:spPr>
          <a:xfrm>
            <a:off x="3328416" y="33832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36.6%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328416" y="39776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in Gauteng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70448" y="320040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41C31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33832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3,596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035040" y="39776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Subscribers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577072" y="320040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41C31"/>
          </a:solidFill>
          <a:ln/>
        </p:spPr>
      </p:sp>
      <p:sp>
        <p:nvSpPr>
          <p:cNvPr id="27" name="Text 25"/>
          <p:cNvSpPr/>
          <p:nvPr/>
        </p:nvSpPr>
        <p:spPr>
          <a:xfrm>
            <a:off x="8741664" y="33832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154%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741664" y="39776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vs. Mon Viewing Gap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892040"/>
            <a:ext cx="11274552" cy="1508760"/>
          </a:xfrm>
          <a:prstGeom prst="roundRect">
            <a:avLst>
              <a:gd name="adj" fmla="val 4848"/>
            </a:avLst>
          </a:prstGeom>
          <a:solidFill>
            <a:srgbClr val="1B254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this quarter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53492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Reactivate </a:t>
            </a: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3,596 dormant subscribers — owned-channel reach is universal, so cost per win-back is near zero.
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Rebalance the schedule </a:t>
            </a: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move tent-pole content into Monday and the 15:00 peak window.
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Defend concentration risk </a:t>
            </a: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ICC Cricket World Cup 2011 carries the platform; commission adjacent content ahead of rights renewal.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Executive Analytics Report  •  Jan – Mar 2016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&amp; REACH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— and Who — Is Watching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45752" y="411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Subscribers by Province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82880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537960" y="150876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by Age Group</a:t>
            </a:r>
            <a:endParaRPr lang="en-US" sz="13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537960" y="1828800"/>
          <a:ext cx="516636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6537960" y="397764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Intensity Mix</a:t>
            </a:r>
            <a:endParaRPr lang="en-US" sz="1300" dirty="0"/>
          </a:p>
        </p:txBody>
      </p:sp>
      <p:graphicFrame>
        <p:nvGraphicFramePr>
          <p:cNvPr id="10" name="Chart 2"/>
          <p:cNvGraphicFramePr/>
          <p:nvPr/>
        </p:nvGraphicFramePr>
        <p:xfrm>
          <a:off x="6537960" y="4297680"/>
          <a:ext cx="51663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 6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Executive Analytics Report  •  Jan – Mar 2016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PATTERNS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South Africa Watches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45752" y="411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by Hour of Day (approx.)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828800"/>
          <a:ext cx="69494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1605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 15:00 — the single busiest slot of the day.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by Day of Week</a:t>
            </a:r>
            <a:endParaRPr lang="en-US" sz="125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57200" y="4892040"/>
          <a:ext cx="69494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8138160" y="1828800"/>
            <a:ext cx="3566160" cy="4754880"/>
          </a:xfrm>
          <a:prstGeom prst="roundRect">
            <a:avLst>
              <a:gd name="adj" fmla="val 2051"/>
            </a:avLst>
          </a:prstGeom>
          <a:solidFill>
            <a:srgbClr val="141C31"/>
          </a:solidFill>
          <a:ln/>
        </p:spPr>
      </p:sp>
      <p:sp>
        <p:nvSpPr>
          <p:cNvPr id="11" name="Text 7"/>
          <p:cNvSpPr/>
          <p:nvPr/>
        </p:nvSpPr>
        <p:spPr>
          <a:xfrm>
            <a:off x="836676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154% gap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366760" y="251460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</a:t>
            </a: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strongest day at 18K minutes.
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</a:t>
            </a: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weakest at 7K minutes — a 154% gap the schedule can flatten.
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minutes skews toward Afternoon and Evening dayparts, with Midnight the smallest slice — a clear window for Monday tent-pole scheduling.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Executive Analytics Report  •  Jan – Mar 2016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PORTFOLIO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Channels &amp; Concentration Risk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45752" y="411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Channels by Total Minutes (thousand)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82880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138160" y="182880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2A1530"/>
          </a:solidFill>
          <a:ln/>
        </p:spPr>
      </p:sp>
      <p:sp>
        <p:nvSpPr>
          <p:cNvPr id="8" name="Text 5"/>
          <p:cNvSpPr/>
          <p:nvPr/>
        </p:nvSpPr>
        <p:spPr>
          <a:xfrm>
            <a:off x="836676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Single-title exposure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66760" y="24688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27.1%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366760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minutes come from ICC Cricket World Cup 2011 alone.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366760" y="39776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Live Events in second place, the top two titles account for well over a third of total viewing. A rights loss or scheduling gap on either would remove a material share of engagement overnight.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366760" y="5532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commission or acquire adjacent titles before the next rights renewal.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Executive Analytics Report  •  Jan – Mar 2016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Reactivation Opportunity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45752" y="411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57600" cy="4114800"/>
          </a:xfrm>
          <a:prstGeom prst="roundRect">
            <a:avLst>
              <a:gd name="adj" fmla="val 2250"/>
            </a:avLst>
          </a:prstGeom>
          <a:solidFill>
            <a:srgbClr val="EC489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Subscribers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3,596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D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as logging zero usage this quarter — the single largest reactivation pool available to the CVM team.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D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social reach is effectively universal — incremental cost per win-back is near zero.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34840" y="1691640"/>
            <a:ext cx="7296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Usage Ladder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34840" y="2011680"/>
            <a:ext cx="7296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usage-bucket totals reflect the broader registered base tracked by CVM, not only the 4,386 subscribers with viewing activity this quarter.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34840" y="2468880"/>
            <a:ext cx="7296912" cy="841248"/>
          </a:xfrm>
          <a:prstGeom prst="roundRect">
            <a:avLst>
              <a:gd name="adj" fmla="val 7609"/>
            </a:avLst>
          </a:prstGeom>
          <a:solidFill>
            <a:srgbClr val="141C31"/>
          </a:solidFill>
          <a:ln/>
        </p:spPr>
      </p:sp>
      <p:sp>
        <p:nvSpPr>
          <p:cNvPr id="13" name="Shape 11"/>
          <p:cNvSpPr/>
          <p:nvPr/>
        </p:nvSpPr>
        <p:spPr>
          <a:xfrm>
            <a:off x="4434840" y="2468880"/>
            <a:ext cx="82296" cy="84124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2578608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3,596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63640" y="256032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usage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Reactivation target — dormant, zero minutes this quarter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34840" y="3456432"/>
            <a:ext cx="7296912" cy="841248"/>
          </a:xfrm>
          <a:prstGeom prst="roundRect">
            <a:avLst>
              <a:gd name="adj" fmla="val 7609"/>
            </a:avLst>
          </a:prstGeom>
          <a:solidFill>
            <a:srgbClr val="141C31"/>
          </a:solidFill>
          <a:ln/>
        </p:spPr>
      </p:sp>
      <p:sp>
        <p:nvSpPr>
          <p:cNvPr id="17" name="Shape 15"/>
          <p:cNvSpPr/>
          <p:nvPr/>
        </p:nvSpPr>
        <p:spPr>
          <a:xfrm>
            <a:off x="4434840" y="3456432"/>
            <a:ext cx="82296" cy="841248"/>
          </a:xfrm>
          <a:prstGeom prst="rect">
            <a:avLst/>
          </a:prstGeom>
          <a:solidFill>
            <a:srgbClr val="F5B942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356616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1,652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63640" y="3547872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usage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incremental growth — nudge into regular viewing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34840" y="4443984"/>
            <a:ext cx="7296912" cy="841248"/>
          </a:xfrm>
          <a:prstGeom prst="roundRect">
            <a:avLst>
              <a:gd name="adj" fmla="val 7609"/>
            </a:avLst>
          </a:prstGeom>
          <a:solidFill>
            <a:srgbClr val="141C31"/>
          </a:solidFill>
          <a:ln/>
        </p:spPr>
      </p:sp>
      <p:sp>
        <p:nvSpPr>
          <p:cNvPr id="21" name="Shape 19"/>
          <p:cNvSpPr/>
          <p:nvPr/>
        </p:nvSpPr>
        <p:spPr>
          <a:xfrm>
            <a:off x="4434840" y="4443984"/>
            <a:ext cx="82296" cy="8412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4553712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~380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63640" y="4535424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usage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habit — reinforce with recommendations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34840" y="5431536"/>
            <a:ext cx="7296912" cy="841248"/>
          </a:xfrm>
          <a:prstGeom prst="roundRect">
            <a:avLst>
              <a:gd name="adj" fmla="val 7609"/>
            </a:avLst>
          </a:prstGeom>
          <a:solidFill>
            <a:srgbClr val="141C31"/>
          </a:solidFill>
          <a:ln/>
        </p:spPr>
      </p:sp>
      <p:sp>
        <p:nvSpPr>
          <p:cNvPr id="25" name="Shape 23"/>
          <p:cNvSpPr/>
          <p:nvPr/>
        </p:nvSpPr>
        <p:spPr>
          <a:xfrm>
            <a:off x="4434840" y="5431536"/>
            <a:ext cx="82296" cy="8412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554126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~270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63640" y="5522976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usage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engaged base — protect with loyalty perks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Executive Analytics Report  •  Jan – Mar 2016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CVM ACTION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Priority Plays for Growth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45752" y="411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41C31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801368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237744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Reactivate dormant subscribers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97180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"what you missed" email leading on the top channel in their province — near-zero incremental cost.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88536" y="16002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41C31"/>
          </a:solidFill>
          <a:ln/>
        </p:spPr>
      </p:sp>
      <p:sp>
        <p:nvSpPr>
          <p:cNvPr id="11" name="Shape 9"/>
          <p:cNvSpPr/>
          <p:nvPr/>
        </p:nvSpPr>
        <p:spPr>
          <a:xfrm>
            <a:off x="4489704" y="1801368"/>
            <a:ext cx="457200" cy="45720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2" name="Text 10"/>
          <p:cNvSpPr/>
          <p:nvPr/>
        </p:nvSpPr>
        <p:spPr>
          <a:xfrm>
            <a:off x="4489704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89704" y="237744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light viewers up the ladder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9704" y="297180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1,652 low-usage subscribers: continue-watching nudges and binge bundles scheduled into the Monday trough.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9872" y="16002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41C31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1801368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237744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against the weak day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97180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premieres and live events into Monday to flatten the weekly curve and spread infrastructure load.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41C31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" y="4133088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8368" y="470916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channel concentration risk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" y="530352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 World Cup 2011 drives 27.1% of minutes — commission adjacent titles ahead of rights renewal.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88536" y="39319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41C31"/>
          </a:solidFill>
          <a:ln/>
        </p:spPr>
      </p:sp>
      <p:sp>
        <p:nvSpPr>
          <p:cNvPr id="26" name="Shape 24"/>
          <p:cNvSpPr/>
          <p:nvPr/>
        </p:nvSpPr>
        <p:spPr>
          <a:xfrm>
            <a:off x="4489704" y="4133088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4489704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489704" y="470916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in under-penetrated provinces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89704" y="530352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spend where subscriber counts are low but minutes-per-subscriber are healthy — proven latent demand.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19872" y="39319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41C31"/>
          </a:solidFill>
          <a:ln/>
        </p:spPr>
      </p:sp>
      <p:sp>
        <p:nvSpPr>
          <p:cNvPr id="31" name="Shape 29"/>
          <p:cNvSpPr/>
          <p:nvPr/>
        </p:nvSpPr>
        <p:spPr>
          <a:xfrm>
            <a:off x="8321040" y="4133088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21040" y="470916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high-value core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530352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are the largest audience block — loyalty perks here defend more minutes than any acquisition cohort replaces.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Executive Analytics Report  •  Jan – Mar 2016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141C3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concentrated audience is a manageable</a:t>
            </a:r>
            <a:endParaRPr lang="en-US" sz="3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— and a clear reactivation opportunity.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back the 3,596 dormant subscribers, rebalance the schedule around Monday and the 15:00 peak, and diversify beyond ICC Cricket World Cup 2011 before the next rights cycle.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Executive Analytics Report  •  Jan – Mar 2016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749</Words>
  <Application>Microsoft Office PowerPoint</Application>
  <PresentationFormat>Widescreen</PresentationFormat>
  <Paragraphs>126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Saziso Mlilo</cp:lastModifiedBy>
  <cp:revision>1</cp:revision>
  <dcterms:created xsi:type="dcterms:W3CDTF">2026-08-03T21:47:20Z</dcterms:created>
  <dcterms:modified xsi:type="dcterms:W3CDTF">2026-08-03T22:49:51Z</dcterms:modified>
</cp:coreProperties>
</file>